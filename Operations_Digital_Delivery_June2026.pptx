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A375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88952" cy="38100"/>
          </a:xfrm>
          <a:prstGeom prst="rect">
            <a:avLst/>
          </a:prstGeom>
          <a:solidFill>
            <a:srgbClr val="F08C0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Operations Digital Delivery  – 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2786634" cy="914400"/>
          </a:xfrm>
          <a:prstGeom prst="rect">
            <a:avLst/>
          </a:prstGeom>
          <a:solidFill>
            <a:srgbClr val="1A375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822960"/>
            <a:ext cx="2786634" cy="50800"/>
          </a:xfrm>
          <a:prstGeom prst="rect">
            <a:avLst/>
          </a:prstGeom>
          <a:solidFill>
            <a:srgbClr val="F08C0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877824"/>
            <a:ext cx="26037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Under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43584"/>
            <a:ext cx="264033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0D8E4"/>
                </a:solidFill>
                <a:latin typeface="Calibri"/>
              </a:rPr>
              <a:t>All initiatives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5546" y="822960"/>
            <a:ext cx="2786634" cy="914400"/>
          </a:xfrm>
          <a:prstGeom prst="rect">
            <a:avLst/>
          </a:prstGeom>
          <a:solidFill>
            <a:srgbClr val="1A375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5546" y="822960"/>
            <a:ext cx="2786634" cy="50800"/>
          </a:xfrm>
          <a:prstGeom prst="rect">
            <a:avLst/>
          </a:prstGeom>
          <a:solidFill>
            <a:srgbClr val="F08C0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6986" y="877824"/>
            <a:ext cx="26037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No Additional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8698" y="1243584"/>
            <a:ext cx="264033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0D8E4"/>
                </a:solidFill>
                <a:latin typeface="Calibri"/>
              </a:rPr>
              <a:t>Emergent work absorbed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822960"/>
            <a:ext cx="2786634" cy="914400"/>
          </a:xfrm>
          <a:prstGeom prst="rect">
            <a:avLst/>
          </a:prstGeom>
          <a:solidFill>
            <a:srgbClr val="1A375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6772" y="822960"/>
            <a:ext cx="2786634" cy="50800"/>
          </a:xfrm>
          <a:prstGeom prst="rect">
            <a:avLst/>
          </a:prstGeom>
          <a:solidFill>
            <a:srgbClr val="F08C0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8212" y="877824"/>
            <a:ext cx="26037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Reg 5 KPIs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9924" y="1243584"/>
            <a:ext cx="264033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0D8E4"/>
                </a:solidFill>
                <a:latin typeface="Calibri"/>
              </a:rPr>
              <a:t>No observations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7998" y="822960"/>
            <a:ext cx="2786634" cy="914400"/>
          </a:xfrm>
          <a:prstGeom prst="rect">
            <a:avLst/>
          </a:prstGeom>
          <a:solidFill>
            <a:srgbClr val="1A375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27998" y="822960"/>
            <a:ext cx="2786634" cy="50800"/>
          </a:xfrm>
          <a:prstGeom prst="rect">
            <a:avLst/>
          </a:prstGeom>
          <a:solidFill>
            <a:srgbClr val="F08C0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9438" y="877824"/>
            <a:ext cx="26037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 Adoption 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1150" y="1243584"/>
            <a:ext cx="264033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0D8E4"/>
                </a:solidFill>
                <a:latin typeface="Calibri"/>
              </a:rPr>
              <a:t>COSHH 365 &amp; Omega IM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920240"/>
            <a:ext cx="42519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1920240"/>
            <a:ext cx="4251960" cy="292608"/>
          </a:xfrm>
          <a:prstGeom prst="rect">
            <a:avLst/>
          </a:prstGeom>
          <a:solidFill>
            <a:srgbClr val="1F6FB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1956816"/>
            <a:ext cx="40325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Digital Initiatives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" y="2249424"/>
            <a:ext cx="3995928" cy="2843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KPI Dashboard:  </a:t>
            </a:r>
            <a:r>
              <a:rPr sz="900" b="0">
                <a:solidFill>
                  <a:srgbClr val="219653"/>
                </a:solidFill>
                <a:latin typeface="Calibri"/>
              </a:rPr>
              <a:t>Centralisation &amp; AIRB complete; NEO Next rollout live; automation in progress.</a:t>
            </a:r>
          </a:p>
          <a:p>
            <a:pPr lvl="1">
              <a:spcBef>
                <a:spcPts val="100"/>
              </a:spcBef>
              <a:buChar char="○"/>
            </a:pPr>
            <a:r>
              <a:rPr sz="850" b="1">
                <a:solidFill>
                  <a:srgbClr val="1A375E"/>
                </a:solidFill>
                <a:latin typeface="Calibri"/>
              </a:rPr>
              <a:t>Omega 365 — Incident Management:  </a:t>
            </a:r>
            <a:r>
              <a:rPr sz="850" b="0">
                <a:solidFill>
                  <a:srgbClr val="219653"/>
                </a:solidFill>
                <a:latin typeface="Calibri"/>
              </a:rPr>
              <a:t>Live</a:t>
            </a:r>
          </a:p>
          <a:p>
            <a:pPr lvl="1">
              <a:spcBef>
                <a:spcPts val="100"/>
              </a:spcBef>
              <a:buChar char="○"/>
            </a:pPr>
            <a:r>
              <a:rPr sz="850" b="1">
                <a:solidFill>
                  <a:srgbClr val="1A375E"/>
                </a:solidFill>
                <a:latin typeface="Calibri"/>
              </a:rPr>
              <a:t>Omega 365 — Action Management:  </a:t>
            </a:r>
            <a:r>
              <a:rPr sz="850" b="0">
                <a:solidFill>
                  <a:srgbClr val="E65C00"/>
                </a:solidFill>
                <a:latin typeface="Calibri"/>
              </a:rPr>
              <a:t>Live  (Quality rollout delayed)</a:t>
            </a:r>
          </a:p>
          <a:p>
            <a:pPr>
              <a:spcBef>
                <a:spcPts val="3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COSHH 365:  </a:t>
            </a:r>
            <a:r>
              <a:rPr sz="900" b="0">
                <a:solidFill>
                  <a:srgbClr val="219653"/>
                </a:solidFill>
                <a:latin typeface="Calibri"/>
              </a:rPr>
              <a:t>Live; adoption gate approved</a:t>
            </a:r>
          </a:p>
          <a:p>
            <a:pPr>
              <a:spcBef>
                <a:spcPts val="3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Salus Suite:  </a:t>
            </a:r>
            <a:r>
              <a:rPr sz="900" b="0">
                <a:solidFill>
                  <a:srgbClr val="E65C00"/>
                </a:solidFill>
                <a:latin typeface="Calibri"/>
              </a:rPr>
              <a:t>In progress; delayed by Safety Case priorities; training commenced</a:t>
            </a:r>
          </a:p>
          <a:p>
            <a:pPr>
              <a:spcBef>
                <a:spcPts val="3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BP Andrew &amp; NEO Transition Support:  </a:t>
            </a:r>
            <a:r>
              <a:rPr sz="900" b="0">
                <a:solidFill>
                  <a:srgbClr val="219653"/>
                </a:solidFill>
                <a:latin typeface="Calibri"/>
              </a:rPr>
              <a:t>Active</a:t>
            </a:r>
          </a:p>
          <a:p>
            <a:pPr>
              <a:spcBef>
                <a:spcPts val="3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Reg 5 Support:  </a:t>
            </a:r>
            <a:r>
              <a:rPr sz="900" b="0">
                <a:solidFill>
                  <a:srgbClr val="219653"/>
                </a:solidFill>
                <a:latin typeface="Calibri"/>
              </a:rPr>
              <a:t>Active</a:t>
            </a:r>
          </a:p>
          <a:p>
            <a:pPr>
              <a:spcBef>
                <a:spcPts val="3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Training &amp; Competence:  </a:t>
            </a:r>
            <a:r>
              <a:rPr sz="900" b="0">
                <a:solidFill>
                  <a:srgbClr val="E65C00"/>
                </a:solidFill>
                <a:latin typeface="Calibri"/>
              </a:rPr>
              <a:t>Vendor selection in progress</a:t>
            </a:r>
          </a:p>
          <a:p>
            <a:pPr>
              <a:spcBef>
                <a:spcPts val="3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CMMS:  </a:t>
            </a:r>
            <a:r>
              <a:rPr sz="900" b="0">
                <a:solidFill>
                  <a:srgbClr val="E65C00"/>
                </a:solidFill>
                <a:latin typeface="Calibri"/>
              </a:rPr>
              <a:t>Final vendor selection in progress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87184" y="1920240"/>
            <a:ext cx="42519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87184" y="1920240"/>
            <a:ext cx="4251960" cy="292608"/>
          </a:xfrm>
          <a:prstGeom prst="rect">
            <a:avLst/>
          </a:prstGeom>
          <a:solidFill>
            <a:srgbClr val="1F6FB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96912" y="1956816"/>
            <a:ext cx="40325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Chronos Developments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249424"/>
            <a:ext cx="3995928" cy="2843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00" b="1">
                <a:solidFill>
                  <a:srgbClr val="1F6FB2"/>
                </a:solidFill>
                <a:latin typeface="Calibri"/>
              </a:rPr>
              <a:t>Live</a:t>
            </a:r>
          </a:p>
          <a:p>
            <a:pPr>
              <a:spcBef>
                <a:spcPts val="2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HR Dashboards:  </a:t>
            </a:r>
            <a:r>
              <a:rPr sz="900" b="0">
                <a:solidFill>
                  <a:srgbClr val="219653"/>
                </a:solidFill>
                <a:latin typeface="Calibri"/>
              </a:rPr>
              <a:t>Live</a:t>
            </a:r>
          </a:p>
          <a:p>
            <a:pPr>
              <a:spcBef>
                <a:spcPts val="2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Service Orders / Agreements:  </a:t>
            </a:r>
            <a:r>
              <a:rPr sz="900" b="0">
                <a:solidFill>
                  <a:srgbClr val="219653"/>
                </a:solidFill>
                <a:latin typeface="Calibri"/>
              </a:rPr>
              <a:t>Live</a:t>
            </a:r>
          </a:p>
          <a:p>
            <a:pPr>
              <a:spcBef>
                <a:spcPts val="2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New Start Forms:  </a:t>
            </a:r>
            <a:r>
              <a:rPr sz="900" b="0">
                <a:solidFill>
                  <a:srgbClr val="219653"/>
                </a:solidFill>
                <a:latin typeface="Calibri"/>
              </a:rPr>
              <a:t>Live</a:t>
            </a:r>
          </a:p>
          <a:p>
            <a:pPr>
              <a:spcBef>
                <a:spcPts val="2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Resource Utilisation:  </a:t>
            </a:r>
            <a:r>
              <a:rPr sz="900" b="0">
                <a:solidFill>
                  <a:srgbClr val="219653"/>
                </a:solidFill>
                <a:latin typeface="Calibri"/>
              </a:rPr>
              <a:t>Live</a:t>
            </a:r>
          </a:p>
          <a:p>
            <a:pPr>
              <a:spcBef>
                <a:spcPts val="2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Purchase Requisitions:  </a:t>
            </a:r>
            <a:r>
              <a:rPr sz="900" b="0">
                <a:solidFill>
                  <a:srgbClr val="219653"/>
                </a:solidFill>
                <a:latin typeface="Calibri"/>
              </a:rPr>
              <a:t>Live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1F6FB2"/>
                </a:solidFill>
                <a:latin typeface="Calibri"/>
              </a:rPr>
              <a:t>In Progress</a:t>
            </a:r>
          </a:p>
          <a:p>
            <a:pPr>
              <a:spcBef>
                <a:spcPts val="2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Expenses Enhancements:  </a:t>
            </a:r>
            <a:r>
              <a:rPr sz="900" b="0">
                <a:solidFill>
                  <a:srgbClr val="E65C00"/>
                </a:solidFill>
                <a:latin typeface="Calibri"/>
              </a:rPr>
              <a:t>Complete; rollout in progress</a:t>
            </a:r>
          </a:p>
          <a:p>
            <a:pPr>
              <a:spcBef>
                <a:spcPts val="2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AP Register:  </a:t>
            </a:r>
            <a:r>
              <a:rPr sz="900" b="0">
                <a:solidFill>
                  <a:srgbClr val="E65C00"/>
                </a:solidFill>
                <a:latin typeface="Calibri"/>
              </a:rPr>
              <a:t>User testing</a:t>
            </a:r>
          </a:p>
          <a:p>
            <a:pPr>
              <a:spcBef>
                <a:spcPts val="200"/>
              </a:spcBef>
              <a:buChar char="▪"/>
            </a:pPr>
            <a:r>
              <a:rPr sz="900" b="1">
                <a:solidFill>
                  <a:srgbClr val="1A375E"/>
                </a:solidFill>
                <a:latin typeface="Calibri"/>
              </a:rPr>
              <a:t>Sales Invoicing:  </a:t>
            </a:r>
            <a:r>
              <a:rPr sz="900" b="0">
                <a:solidFill>
                  <a:srgbClr val="E65C00"/>
                </a:solidFill>
                <a:latin typeface="Calibri"/>
              </a:rPr>
              <a:t>User testing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1F6FB2"/>
                </a:solidFill>
                <a:latin typeface="Calibri"/>
              </a:rPr>
              <a:t>New Development Scoping</a:t>
            </a:r>
          </a:p>
          <a:p>
            <a:pPr>
              <a:spcBef>
                <a:spcPts val="200"/>
              </a:spcBef>
              <a:buChar char="▪"/>
            </a:pPr>
            <a:r>
              <a:rPr sz="900" b="0">
                <a:solidFill>
                  <a:srgbClr val="1A375E"/>
                </a:solidFill>
                <a:latin typeface="Calibri"/>
              </a:rPr>
              <a:t>AP Month-End Automation</a:t>
            </a:r>
          </a:p>
          <a:p>
            <a:pPr>
              <a:spcBef>
                <a:spcPts val="200"/>
              </a:spcBef>
              <a:buChar char="▪"/>
            </a:pPr>
            <a:r>
              <a:rPr sz="900" b="0">
                <a:solidFill>
                  <a:srgbClr val="1A375E"/>
                </a:solidFill>
                <a:latin typeface="Calibri"/>
              </a:rPr>
              <a:t>Goods Receipt &amp; Manifest</a:t>
            </a:r>
          </a:p>
          <a:p>
            <a:pPr>
              <a:spcBef>
                <a:spcPts val="200"/>
              </a:spcBef>
              <a:buChar char="▪"/>
            </a:pPr>
            <a:r>
              <a:rPr sz="900" b="0">
                <a:solidFill>
                  <a:srgbClr val="1A375E"/>
                </a:solidFill>
                <a:latin typeface="Calibri"/>
              </a:rPr>
              <a:t>Budget Management (Actual vs Budget)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303520"/>
            <a:ext cx="11640312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5303520"/>
            <a:ext cx="11640312" cy="292608"/>
          </a:xfrm>
          <a:prstGeom prst="rect">
            <a:avLst/>
          </a:prstGeom>
          <a:solidFill>
            <a:srgbClr val="F08C0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5340096"/>
            <a:ext cx="11420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Forward View &amp; Pipeline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" y="5632704"/>
            <a:ext cx="56921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buChar char="▸"/>
            </a:pPr>
            <a:r>
              <a:rPr sz="950" b="0">
                <a:solidFill>
                  <a:srgbClr val="1A375E"/>
                </a:solidFill>
                <a:latin typeface="Calibri"/>
              </a:rPr>
              <a:t>Complete remaining capitalisation initiatives</a:t>
            </a:r>
          </a:p>
          <a:p>
            <a:pPr>
              <a:spcBef>
                <a:spcPts val="300"/>
              </a:spcBef>
              <a:buChar char="▸"/>
            </a:pPr>
            <a:r>
              <a:rPr sz="950" b="0">
                <a:solidFill>
                  <a:srgbClr val="1A375E"/>
                </a:solidFill>
                <a:latin typeface="Calibri"/>
              </a:rPr>
              <a:t>Continue BP Andrew transition support</a:t>
            </a:r>
          </a:p>
          <a:p>
            <a:pPr>
              <a:spcBef>
                <a:spcPts val="300"/>
              </a:spcBef>
              <a:buChar char="▸"/>
            </a:pPr>
            <a:r>
              <a:rPr sz="950" b="0">
                <a:solidFill>
                  <a:srgbClr val="1A375E"/>
                </a:solidFill>
                <a:latin typeface="Calibri"/>
              </a:rPr>
              <a:t>Progress Salus Suite rollout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5916" y="5632704"/>
            <a:ext cx="56921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buChar char="▸"/>
            </a:pPr>
            <a:r>
              <a:rPr sz="950" b="0">
                <a:solidFill>
                  <a:srgbClr val="1A375E"/>
                </a:solidFill>
                <a:latin typeface="Calibri"/>
              </a:rPr>
              <a:t>Finalise CMMS selection</a:t>
            </a:r>
          </a:p>
          <a:p>
            <a:pPr>
              <a:spcBef>
                <a:spcPts val="300"/>
              </a:spcBef>
              <a:buChar char="▸"/>
            </a:pPr>
            <a:r>
              <a:rPr sz="950" b="0">
                <a:solidFill>
                  <a:srgbClr val="1A375E"/>
                </a:solidFill>
                <a:latin typeface="Calibri"/>
              </a:rPr>
              <a:t>Finalise Training &amp; Competence system selection and roll-out</a:t>
            </a:r>
          </a:p>
          <a:p>
            <a:pPr>
              <a:spcBef>
                <a:spcPts val="300"/>
              </a:spcBef>
              <a:buChar char="▸"/>
            </a:pPr>
            <a:r>
              <a:rPr sz="950" b="0">
                <a:solidFill>
                  <a:srgbClr val="1A375E"/>
                </a:solidFill>
                <a:latin typeface="Calibri"/>
              </a:rPr>
              <a:t>Prepare next 6-month capitalisation programme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375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638544"/>
            <a:ext cx="60944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8E4"/>
                </a:solidFill>
                <a:latin typeface="Calibri"/>
              </a:rPr>
              <a:t>Strateq Digital  |  Confidential  |  June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4476" y="6638544"/>
            <a:ext cx="58201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D0D8E4"/>
                </a:solidFill>
                <a:latin typeface="Calibri"/>
              </a:rPr>
              <a:t>Operations Digital Delivery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