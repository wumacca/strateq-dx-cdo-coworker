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3F7FB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A65A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952" cy="50800"/>
          </a:xfrm>
          <a:prstGeom prst="rect">
            <a:avLst/>
          </a:prstGeom>
          <a:solidFill>
            <a:srgbClr val="3A993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09168"/>
            <a:ext cx="12188952" cy="25400"/>
          </a:xfrm>
          <a:prstGeom prst="rect">
            <a:avLst/>
          </a:prstGeom>
          <a:solidFill>
            <a:srgbClr val="E882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" y="11887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Operations Digital Delivery  –  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94392" y="146304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Calibri"/>
              </a:rPr>
              <a:t>THRE360  ENERGY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" y="859536"/>
            <a:ext cx="2777490" cy="877824"/>
          </a:xfrm>
          <a:prstGeom prst="rect">
            <a:avLst/>
          </a:prstGeom>
          <a:solidFill>
            <a:srgbClr val="1A65A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2608" y="859536"/>
            <a:ext cx="2777490" cy="63500"/>
          </a:xfrm>
          <a:prstGeom prst="rect">
            <a:avLst/>
          </a:prstGeom>
          <a:solidFill>
            <a:srgbClr val="3A993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923544"/>
            <a:ext cx="25946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Under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298448"/>
            <a:ext cx="26311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D6E5"/>
                </a:solidFill>
                <a:latin typeface="Calibri"/>
              </a:rPr>
              <a:t>All initiatives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4690" y="859536"/>
            <a:ext cx="2777490" cy="877824"/>
          </a:xfrm>
          <a:prstGeom prst="rect">
            <a:avLst/>
          </a:prstGeom>
          <a:solidFill>
            <a:srgbClr val="1A65A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34690" y="859536"/>
            <a:ext cx="2777490" cy="63500"/>
          </a:xfrm>
          <a:prstGeom prst="rect">
            <a:avLst/>
          </a:prstGeom>
          <a:solidFill>
            <a:srgbClr val="E882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26130" y="923544"/>
            <a:ext cx="25946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No Added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07842" y="1298448"/>
            <a:ext cx="26311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D6E5"/>
                </a:solidFill>
                <a:latin typeface="Calibri"/>
              </a:rPr>
              <a:t>Emergent work absorbed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859536"/>
            <a:ext cx="2777490" cy="877824"/>
          </a:xfrm>
          <a:prstGeom prst="rect">
            <a:avLst/>
          </a:prstGeom>
          <a:solidFill>
            <a:srgbClr val="1A65A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6772" y="859536"/>
            <a:ext cx="2777490" cy="63500"/>
          </a:xfrm>
          <a:prstGeom prst="rect">
            <a:avLst/>
          </a:prstGeom>
          <a:solidFill>
            <a:srgbClr val="3A993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8212" y="923544"/>
            <a:ext cx="25946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Reg 5 KPIs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49924" y="1298448"/>
            <a:ext cx="26311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D6E5"/>
                </a:solidFill>
                <a:latin typeface="Calibri"/>
              </a:rPr>
              <a:t>No observations raised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18854" y="859536"/>
            <a:ext cx="2777490" cy="877824"/>
          </a:xfrm>
          <a:prstGeom prst="rect">
            <a:avLst/>
          </a:prstGeom>
          <a:solidFill>
            <a:srgbClr val="1A65A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18854" y="859536"/>
            <a:ext cx="2777490" cy="63500"/>
          </a:xfrm>
          <a:prstGeom prst="rect">
            <a:avLst/>
          </a:prstGeom>
          <a:solidFill>
            <a:srgbClr val="E882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0294" y="923544"/>
            <a:ext cx="259461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 Adoption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2006" y="1298448"/>
            <a:ext cx="263118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8D6E5"/>
                </a:solidFill>
                <a:latin typeface="Calibri"/>
              </a:rPr>
              <a:t>COSHH 365 &amp; Omega IM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" y="1938528"/>
            <a:ext cx="5742432" cy="3182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92608" y="1938528"/>
            <a:ext cx="5742432" cy="301752"/>
          </a:xfrm>
          <a:prstGeom prst="rect">
            <a:avLst/>
          </a:prstGeom>
          <a:solidFill>
            <a:srgbClr val="1A65A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2608" y="1938528"/>
            <a:ext cx="50800" cy="301752"/>
          </a:xfrm>
          <a:prstGeom prst="rect">
            <a:avLst/>
          </a:prstGeom>
          <a:solidFill>
            <a:srgbClr val="E882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19796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Digital Initiatives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" y="2286000"/>
            <a:ext cx="544982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KPI Dashboard:  </a:t>
            </a:r>
            <a:r>
              <a:rPr sz="900" b="0">
                <a:solidFill>
                  <a:srgbClr val="219653"/>
                </a:solidFill>
                <a:latin typeface="Calibri"/>
              </a:rPr>
              <a:t>Centralisation &amp; AIRB complete; NEO Next rollout live; automation in progress.</a:t>
            </a:r>
          </a:p>
          <a:p>
            <a:pPr lvl="1">
              <a:spcBef>
                <a:spcPts val="300"/>
              </a:spcBef>
              <a:buChar char="○"/>
            </a:pPr>
            <a:r>
              <a:rPr sz="900" b="1">
                <a:solidFill>
                  <a:srgbClr val="2B2B2B"/>
                </a:solidFill>
                <a:latin typeface="Calibri"/>
              </a:rPr>
              <a:t>Omega 365 — Incident Management:  </a:t>
            </a:r>
            <a:r>
              <a:rPr sz="900" b="0">
                <a:solidFill>
                  <a:srgbClr val="219653"/>
                </a:solidFill>
                <a:latin typeface="Calibri"/>
              </a:rPr>
              <a:t>Live</a:t>
            </a:r>
          </a:p>
          <a:p>
            <a:pPr lvl="1">
              <a:spcBef>
                <a:spcPts val="300"/>
              </a:spcBef>
              <a:buChar char="○"/>
            </a:pPr>
            <a:r>
              <a:rPr sz="900" b="1">
                <a:solidFill>
                  <a:srgbClr val="2B2B2B"/>
                </a:solidFill>
                <a:latin typeface="Calibri"/>
              </a:rPr>
              <a:t>Omega 365 — Action Management:  </a:t>
            </a:r>
            <a:r>
              <a:rPr sz="900" b="0">
                <a:solidFill>
                  <a:srgbClr val="D45A00"/>
                </a:solidFill>
                <a:latin typeface="Calibri"/>
              </a:rPr>
              <a:t>Live  (Quality rollout delayed)</a:t>
            </a:r>
          </a:p>
          <a:p>
            <a:pPr>
              <a:spcBef>
                <a:spcPts val="3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COSHH 365:  </a:t>
            </a:r>
            <a:r>
              <a:rPr sz="900" b="0">
                <a:solidFill>
                  <a:srgbClr val="219653"/>
                </a:solidFill>
                <a:latin typeface="Calibri"/>
              </a:rPr>
              <a:t>Live; adoption gate approved</a:t>
            </a:r>
          </a:p>
          <a:p>
            <a:pPr>
              <a:spcBef>
                <a:spcPts val="3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Salus Suite:  </a:t>
            </a:r>
            <a:r>
              <a:rPr sz="900" b="0">
                <a:solidFill>
                  <a:srgbClr val="D45A00"/>
                </a:solidFill>
                <a:latin typeface="Calibri"/>
              </a:rPr>
              <a:t>In progress; delayed by Safety Case priorities; training commenced</a:t>
            </a:r>
          </a:p>
          <a:p>
            <a:pPr>
              <a:spcBef>
                <a:spcPts val="3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BP Andrew &amp; NEO Transition:  </a:t>
            </a:r>
            <a:r>
              <a:rPr sz="900" b="0">
                <a:solidFill>
                  <a:srgbClr val="219653"/>
                </a:solidFill>
                <a:latin typeface="Calibri"/>
              </a:rPr>
              <a:t>Active</a:t>
            </a:r>
          </a:p>
          <a:p>
            <a:pPr>
              <a:spcBef>
                <a:spcPts val="3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Reg 5 Support:  </a:t>
            </a:r>
            <a:r>
              <a:rPr sz="900" b="0">
                <a:solidFill>
                  <a:srgbClr val="219653"/>
                </a:solidFill>
                <a:latin typeface="Calibri"/>
              </a:rPr>
              <a:t>Active</a:t>
            </a:r>
          </a:p>
          <a:p>
            <a:pPr>
              <a:spcBef>
                <a:spcPts val="3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Training &amp; Competence:  </a:t>
            </a:r>
            <a:r>
              <a:rPr sz="900" b="0">
                <a:solidFill>
                  <a:srgbClr val="D45A00"/>
                </a:solidFill>
                <a:latin typeface="Calibri"/>
              </a:rPr>
              <a:t>Vendor selection in progress</a:t>
            </a:r>
          </a:p>
          <a:p>
            <a:pPr>
              <a:spcBef>
                <a:spcPts val="3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CMMS:  </a:t>
            </a:r>
            <a:r>
              <a:rPr sz="900" b="0">
                <a:solidFill>
                  <a:srgbClr val="D45A00"/>
                </a:solidFill>
                <a:latin typeface="Calibri"/>
              </a:rPr>
              <a:t>Final vendor selection in progress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2" y="1938528"/>
            <a:ext cx="5742432" cy="3182112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2" y="1938528"/>
            <a:ext cx="5742432" cy="301752"/>
          </a:xfrm>
          <a:prstGeom prst="rect">
            <a:avLst/>
          </a:prstGeom>
          <a:solidFill>
            <a:srgbClr val="1A65AC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1938528"/>
            <a:ext cx="50800" cy="301752"/>
          </a:xfrm>
          <a:prstGeom prst="rect">
            <a:avLst/>
          </a:prstGeom>
          <a:solidFill>
            <a:srgbClr val="E882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5936" y="197967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Chronos Developments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5936" y="2286000"/>
            <a:ext cx="5449824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900" b="1">
                <a:solidFill>
                  <a:srgbClr val="1A65AC"/>
                </a:solidFill>
                <a:latin typeface="Calibri"/>
              </a:rPr>
              <a:t>Live</a:t>
            </a:r>
          </a:p>
          <a:p>
            <a:pPr>
              <a:spcBef>
                <a:spcPts val="2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HR Dashboards:  </a:t>
            </a:r>
            <a:r>
              <a:rPr sz="900" b="0">
                <a:solidFill>
                  <a:srgbClr val="219653"/>
                </a:solidFill>
                <a:latin typeface="Calibri"/>
              </a:rPr>
              <a:t>Live</a:t>
            </a:r>
          </a:p>
          <a:p>
            <a:pPr>
              <a:spcBef>
                <a:spcPts val="2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Service Orders / Agreements:  </a:t>
            </a:r>
            <a:r>
              <a:rPr sz="900" b="0">
                <a:solidFill>
                  <a:srgbClr val="219653"/>
                </a:solidFill>
                <a:latin typeface="Calibri"/>
              </a:rPr>
              <a:t>Live</a:t>
            </a:r>
          </a:p>
          <a:p>
            <a:pPr>
              <a:spcBef>
                <a:spcPts val="2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New Start Forms:  </a:t>
            </a:r>
            <a:r>
              <a:rPr sz="900" b="0">
                <a:solidFill>
                  <a:srgbClr val="219653"/>
                </a:solidFill>
                <a:latin typeface="Calibri"/>
              </a:rPr>
              <a:t>Live</a:t>
            </a:r>
          </a:p>
          <a:p>
            <a:pPr>
              <a:spcBef>
                <a:spcPts val="2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Resource Utilisation:  </a:t>
            </a:r>
            <a:r>
              <a:rPr sz="900" b="0">
                <a:solidFill>
                  <a:srgbClr val="219653"/>
                </a:solidFill>
                <a:latin typeface="Calibri"/>
              </a:rPr>
              <a:t>Live</a:t>
            </a:r>
          </a:p>
          <a:p>
            <a:pPr>
              <a:spcBef>
                <a:spcPts val="2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Purchase Requisitions:  </a:t>
            </a:r>
            <a:r>
              <a:rPr sz="900" b="0">
                <a:solidFill>
                  <a:srgbClr val="219653"/>
                </a:solidFill>
                <a:latin typeface="Calibri"/>
              </a:rPr>
              <a:t>Live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1A65AC"/>
                </a:solidFill>
                <a:latin typeface="Calibri"/>
              </a:rPr>
              <a:t>In Progress</a:t>
            </a:r>
          </a:p>
          <a:p>
            <a:pPr>
              <a:spcBef>
                <a:spcPts val="2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Expenses Enhancements:  </a:t>
            </a:r>
            <a:r>
              <a:rPr sz="900" b="0">
                <a:solidFill>
                  <a:srgbClr val="D45A00"/>
                </a:solidFill>
                <a:latin typeface="Calibri"/>
              </a:rPr>
              <a:t>Complete; rollout in progress</a:t>
            </a:r>
          </a:p>
          <a:p>
            <a:pPr>
              <a:spcBef>
                <a:spcPts val="2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AP Register:  </a:t>
            </a:r>
            <a:r>
              <a:rPr sz="900" b="0">
                <a:solidFill>
                  <a:srgbClr val="D45A00"/>
                </a:solidFill>
                <a:latin typeface="Calibri"/>
              </a:rPr>
              <a:t>User testing</a:t>
            </a:r>
          </a:p>
          <a:p>
            <a:pPr>
              <a:spcBef>
                <a:spcPts val="200"/>
              </a:spcBef>
              <a:buChar char="▪"/>
            </a:pPr>
            <a:r>
              <a:rPr sz="900" b="1">
                <a:solidFill>
                  <a:srgbClr val="2B2B2B"/>
                </a:solidFill>
                <a:latin typeface="Calibri"/>
              </a:rPr>
              <a:t>Sales Invoicing:  </a:t>
            </a:r>
            <a:r>
              <a:rPr sz="900" b="0">
                <a:solidFill>
                  <a:srgbClr val="D45A00"/>
                </a:solidFill>
                <a:latin typeface="Calibri"/>
              </a:rPr>
              <a:t>User testing</a:t>
            </a:r>
          </a:p>
          <a:p>
            <a:pPr>
              <a:spcBef>
                <a:spcPts val="500"/>
              </a:spcBef>
              <a:buNone/>
            </a:pPr>
            <a:r>
              <a:rPr sz="900" b="1">
                <a:solidFill>
                  <a:srgbClr val="1A65AC"/>
                </a:solidFill>
                <a:latin typeface="Calibri"/>
              </a:rPr>
              <a:t>New Development Scoping</a:t>
            </a:r>
          </a:p>
          <a:p>
            <a:pPr>
              <a:spcBef>
                <a:spcPts val="200"/>
              </a:spcBef>
              <a:buChar char="▪"/>
            </a:pPr>
            <a:r>
              <a:rPr sz="900" b="0">
                <a:solidFill>
                  <a:srgbClr val="2B2B2B"/>
                </a:solidFill>
                <a:latin typeface="Calibri"/>
              </a:rPr>
              <a:t>AP Month-End Automation</a:t>
            </a:r>
          </a:p>
          <a:p>
            <a:pPr>
              <a:spcBef>
                <a:spcPts val="200"/>
              </a:spcBef>
              <a:buChar char="▪"/>
            </a:pPr>
            <a:r>
              <a:rPr sz="900" b="0">
                <a:solidFill>
                  <a:srgbClr val="2B2B2B"/>
                </a:solidFill>
                <a:latin typeface="Calibri"/>
              </a:rPr>
              <a:t>Goods Receipt &amp; Manifest</a:t>
            </a:r>
          </a:p>
          <a:p>
            <a:pPr>
              <a:spcBef>
                <a:spcPts val="200"/>
              </a:spcBef>
              <a:buChar char="▪"/>
            </a:pPr>
            <a:r>
              <a:rPr sz="900" b="0">
                <a:solidFill>
                  <a:srgbClr val="2B2B2B"/>
                </a:solidFill>
                <a:latin typeface="Calibri"/>
              </a:rPr>
              <a:t>Budget Management (Actual vs Budget)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2608" y="5266944"/>
            <a:ext cx="11603736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C8D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92608" y="5266944"/>
            <a:ext cx="11603736" cy="301752"/>
          </a:xfrm>
          <a:prstGeom prst="rect">
            <a:avLst/>
          </a:prstGeom>
          <a:solidFill>
            <a:srgbClr val="3D3D3D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92608" y="5266944"/>
            <a:ext cx="50800" cy="301752"/>
          </a:xfrm>
          <a:prstGeom prst="rect">
            <a:avLst/>
          </a:prstGeom>
          <a:solidFill>
            <a:srgbClr val="E882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" y="5308092"/>
            <a:ext cx="113477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FFFF"/>
                </a:solidFill>
                <a:latin typeface="Calibri"/>
              </a:rPr>
              <a:t>Forward View &amp; Pipeline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2608" y="5266944"/>
            <a:ext cx="50800" cy="301752"/>
          </a:xfrm>
          <a:prstGeom prst="rect">
            <a:avLst/>
          </a:prstGeom>
          <a:solidFill>
            <a:srgbClr val="E882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5614416"/>
            <a:ext cx="55732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▸"/>
            </a:pPr>
            <a:r>
              <a:rPr sz="950" b="0">
                <a:solidFill>
                  <a:srgbClr val="2B2B2B"/>
                </a:solidFill>
                <a:latin typeface="Calibri"/>
              </a:rPr>
              <a:t>Complete remaining capitalisation initiatives</a:t>
            </a:r>
          </a:p>
          <a:p>
            <a:pPr>
              <a:spcBef>
                <a:spcPts val="300"/>
              </a:spcBef>
              <a:buChar char="▸"/>
            </a:pPr>
            <a:r>
              <a:rPr sz="950" b="0">
                <a:solidFill>
                  <a:srgbClr val="2B2B2B"/>
                </a:solidFill>
                <a:latin typeface="Calibri"/>
              </a:rPr>
              <a:t>Continue BP Andrew transition support</a:t>
            </a:r>
          </a:p>
          <a:p>
            <a:pPr>
              <a:spcBef>
                <a:spcPts val="300"/>
              </a:spcBef>
              <a:buChar char="▸"/>
            </a:pPr>
            <a:r>
              <a:rPr sz="950" b="0">
                <a:solidFill>
                  <a:srgbClr val="2B2B2B"/>
                </a:solidFill>
                <a:latin typeface="Calibri"/>
              </a:rPr>
              <a:t>Progress Salus Suite rollout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6772" y="5614416"/>
            <a:ext cx="5573268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▸"/>
            </a:pPr>
            <a:r>
              <a:rPr sz="950" b="0">
                <a:solidFill>
                  <a:srgbClr val="2B2B2B"/>
                </a:solidFill>
                <a:latin typeface="Calibri"/>
              </a:rPr>
              <a:t>Finalise CMMS selection</a:t>
            </a:r>
          </a:p>
          <a:p>
            <a:pPr>
              <a:spcBef>
                <a:spcPts val="300"/>
              </a:spcBef>
              <a:buChar char="▸"/>
            </a:pPr>
            <a:r>
              <a:rPr sz="950" b="0">
                <a:solidFill>
                  <a:srgbClr val="2B2B2B"/>
                </a:solidFill>
                <a:latin typeface="Calibri"/>
              </a:rPr>
              <a:t>Finalise Training &amp; Competence system selection and roll-out</a:t>
            </a:r>
          </a:p>
          <a:p>
            <a:pPr>
              <a:spcBef>
                <a:spcPts val="300"/>
              </a:spcBef>
              <a:buChar char="▸"/>
            </a:pPr>
            <a:r>
              <a:rPr sz="950" b="0">
                <a:solidFill>
                  <a:srgbClr val="2B2B2B"/>
                </a:solidFill>
                <a:latin typeface="Calibri"/>
              </a:rPr>
              <a:t>Prepare next 6-month capitalisation programme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3D3D3D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6601968"/>
            <a:ext cx="2194560" cy="38100"/>
          </a:xfrm>
          <a:prstGeom prst="rect">
            <a:avLst/>
          </a:prstGeom>
          <a:solidFill>
            <a:srgbClr val="3A9935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94560" y="6601968"/>
            <a:ext cx="1097280" cy="38100"/>
          </a:xfrm>
          <a:prstGeom prst="rect">
            <a:avLst/>
          </a:prstGeom>
          <a:solidFill>
            <a:srgbClr val="E8821A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92608" y="6638544"/>
            <a:ext cx="60944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A0B4C8"/>
                </a:solidFill>
                <a:latin typeface="Calibri"/>
              </a:rPr>
              <a:t>Thre360 Energy  |  Confidential  |  June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4476" y="6638544"/>
            <a:ext cx="58018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A0B4C8"/>
                </a:solidFill>
                <a:latin typeface="Calibri"/>
              </a:rPr>
              <a:t>Operations Digital Delivery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